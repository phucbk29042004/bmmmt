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731520"/>
            <a:ext cx="2286000" cy="2286000"/>
          </a:xfrm>
          <a:prstGeom prst="ellipse">
            <a:avLst/>
          </a:prstGeom>
          <a:solidFill>
            <a:srgbClr val="14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2194560"/>
            <a:ext cx="1554480" cy="1554480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3657600"/>
            <a:ext cx="1097280" cy="1097280"/>
          </a:xfrm>
          <a:prstGeom prst="ellipse">
            <a:avLst/>
          </a:prstGeom>
          <a:solidFill>
            <a:srgbClr val="E0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585216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500" b="1">
                <a:solidFill>
                  <a:srgbClr val="72D8C2"/>
                </a:solidFill>
                <a:latin typeface="Aptos"/>
              </a:defRPr>
            </a:pPr>
            <a:r>
              <a:t>TRUSTSIGN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6858000" cy="1645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Duyệt giao dịch</a:t>
            </a:r>
            <a:br/>
            <a:r>
              <a:t>có thể kiểm chứng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667512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800" b="0">
                <a:solidFill>
                  <a:srgbClr val="D8E6EC"/>
                </a:solidFill>
                <a:latin typeface="Aptos"/>
              </a:defRPr>
            </a:pPr>
            <a:r>
              <a:t>MFA  •  Thiết bị ECDSA  •  WYSIWYS  •  Audit hash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97880"/>
            <a:ext cx="50292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1">
                <a:solidFill>
                  <a:srgbClr val="D8E6EC"/>
                </a:solidFill>
                <a:latin typeface="Aptos"/>
              </a:defRPr>
            </a:pPr>
            <a:r>
              <a:t>TV3 — Frontend &amp;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148078"/>
                </a:solidFill>
                <a:latin typeface="Aptos"/>
              </a:defRPr>
            </a:pPr>
            <a:r>
              <a:t>BỐI CẢNH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0283F"/>
                </a:solidFill>
                <a:latin typeface="Aptos"/>
              </a:defRPr>
            </a:pPr>
            <a:r>
              <a:t>Vấn đề và mục tiêu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56032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5C7482"/>
                </a:solidFill>
                <a:latin typeface="Aptos"/>
              </a:defRPr>
            </a:pPr>
            <a:r>
              <a:t>TRUSTSIGN  •  TV3  •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55063"/>
            <a:ext cx="3145536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176B87"/>
                </a:solidFill>
                <a:latin typeface="Aptos"/>
              </a:defRPr>
            </a:pPr>
            <a:r>
              <a:t>Rủi 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93976"/>
            <a:ext cx="3145536" cy="11155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Yêu cầu chuyển tiền có thể bị giả mạo qua cuộc gọi, tin nhắn hoặc ảnh chụp.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655063"/>
            <a:ext cx="3145536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148078"/>
                </a:solidFill>
                <a:latin typeface="Aptos"/>
              </a:defRPr>
            </a:pPr>
            <a:r>
              <a:t>Mục tiêu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093976"/>
            <a:ext cx="3145536" cy="11155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Xác minh người dùng bằng MFA và người duyệt bằng khóa thiết bị.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655063"/>
            <a:ext cx="3145536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E0AE49"/>
                </a:solidFill>
                <a:latin typeface="Aptos"/>
              </a:defRPr>
            </a:pPr>
            <a:r>
              <a:t>Bằng chứng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093976"/>
            <a:ext cx="3145536" cy="11155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Ký đúng nội dung hiển thị; ghi nhận hoạt động trong audit hash chain.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86200"/>
            <a:ext cx="10424160" cy="2011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C2F3E"/>
                </a:solidFill>
                <a:latin typeface="Aptos"/>
              </a:defRPr>
            </a:pPr>
            <a:r>
              <a:t>•  Không tin giọng nói hay nội dung trông có vẻ thật.</a:t>
            </a:r>
          </a:p>
          <a:p>
            <a:pPr>
              <a:spcAft>
                <a:spcPts val="1300"/>
              </a:spcAft>
              <a:defRPr sz="1800">
                <a:solidFill>
                  <a:srgbClr val="1C2F3E"/>
                </a:solidFill>
                <a:latin typeface="Aptos"/>
              </a:defRPr>
            </a:pPr>
            <a:r>
              <a:t>•  Mọi quyền và trạng thái cuối cùng do backend kiểm tra.</a:t>
            </a:r>
          </a:p>
          <a:p>
            <a:pPr>
              <a:spcAft>
                <a:spcPts val="1300"/>
              </a:spcAft>
              <a:defRPr sz="1800">
                <a:solidFill>
                  <a:srgbClr val="1C2F3E"/>
                </a:solidFill>
                <a:latin typeface="Aptos"/>
              </a:defRPr>
            </a:pPr>
            <a:r>
              <a:t>•  Giao diện làm rõ nội dung, hạn nonce và lý do từ chối.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148078"/>
                </a:solidFill>
                <a:latin typeface="Aptos"/>
              </a:defRPr>
            </a:pPr>
            <a:r>
              <a:t>THIẾT KẾ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0283F"/>
                </a:solidFill>
                <a:latin typeface="Aptos"/>
              </a:defRPr>
            </a:pPr>
            <a:r>
              <a:t>Kiến trúc và ranh giới tin cậy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56032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5C7482"/>
                </a:solidFill>
                <a:latin typeface="Aptos"/>
              </a:defRPr>
            </a:pPr>
            <a:r>
              <a:t>TRUSTSIGN  •  TV3  •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55063"/>
            <a:ext cx="2962656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176B87"/>
                </a:solidFill>
                <a:latin typeface="Aptos"/>
              </a:defRPr>
            </a:pPr>
            <a:r>
              <a:t>Trình duyệt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93976"/>
            <a:ext cx="2962656" cy="14813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HTML/CSS/ES modules cùng origin</a:t>
            </a:r>
            <a:br/>
            <a:r>
              <a:t>WebCrypto + IndexedDB</a:t>
            </a:r>
            <a:br/>
            <a:r>
              <a:t>Cookie phiên không đọc được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655063"/>
            <a:ext cx="2962656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148078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093976"/>
            <a:ext cx="2962656" cy="14813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Auth, role, nonce, giao dịch</a:t>
            </a:r>
            <a:br/>
            <a:r>
              <a:t>Kiểm tra chữ ký và trạng thái</a:t>
            </a:r>
            <a:br/>
            <a:r>
              <a:t>API lỗi JSON nhất quán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50876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655063"/>
            <a:ext cx="2962656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E0AE49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2093976"/>
            <a:ext cx="2962656" cy="14813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Users, devices, transactions</a:t>
            </a:r>
            <a:br/>
            <a:r>
              <a:t>Nonce dùng một lần</a:t>
            </a:r>
            <a:br/>
            <a:r>
              <a:t>Audit log liên kết hash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10424160" cy="7772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2100" b="1">
                <a:solidFill>
                  <a:srgbClr val="10283F"/>
                </a:solidFill>
                <a:latin typeface="Aptos"/>
              </a:defRPr>
            </a:pPr>
            <a:r>
              <a:t>Giao diện chỉ hỗ trợ trải nghiệm; backend mới là nguồn quyết định quyền và tính hợp lệ.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424160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600" b="0">
                <a:solidFill>
                  <a:srgbClr val="5C7482"/>
                </a:solidFill>
                <a:latin typeface="Aptos"/>
              </a:defRPr>
            </a:pPr>
            <a:r>
              <a:t>CSP: script-src self  •  Không CDN  •  API /api cùng origin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148078"/>
                </a:solidFill>
                <a:latin typeface="Aptos"/>
              </a:defRPr>
            </a:pPr>
            <a:r>
              <a:t>XÁC THỰC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0283F"/>
                </a:solidFill>
                <a:latin typeface="Aptos"/>
              </a:defRPr>
            </a:pPr>
            <a:r>
              <a:t>Đăng nhập hai bước và phân quyền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56032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5C7482"/>
                </a:solidFill>
                <a:latin typeface="Aptos"/>
              </a:defRPr>
            </a:pPr>
            <a:r>
              <a:t>TRUSTSIGN  •  TV3  •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55063"/>
            <a:ext cx="4882896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176B87"/>
                </a:solidFill>
                <a:latin typeface="Aptos"/>
              </a:defRPr>
            </a:pPr>
            <a:r>
              <a:t>Bước 1 · Mật khẩu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93976"/>
            <a:ext cx="4882896" cy="70408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POST /auth/login → MFA_REQUIRED hoặc TOTP_SETUP_REQUIRED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55063"/>
            <a:ext cx="4882896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148078"/>
                </a:solidFill>
                <a:latin typeface="Aptos"/>
              </a:defRPr>
            </a:pPr>
            <a:r>
              <a:t>Bước 2 · TOTP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093976"/>
            <a:ext cx="4882896" cy="70408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POST /auth/mfa; lần đầu có QR setup + confirm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83280"/>
            <a:ext cx="10515600" cy="2377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C2F3E"/>
                </a:solidFill>
                <a:latin typeface="Aptos"/>
              </a:defRPr>
            </a:pPr>
            <a:r>
              <a:t>•  Phiên connect.sid do server cấp, httpOnly; JS không truy cập cookie.</a:t>
            </a:r>
          </a:p>
          <a:p>
            <a:pPr>
              <a:spcAft>
                <a:spcPts val="1300"/>
              </a:spcAft>
              <a:defRPr sz="1800">
                <a:solidFill>
                  <a:srgbClr val="1C2F3E"/>
                </a:solidFill>
                <a:latin typeface="Aptos"/>
              </a:defRPr>
            </a:pPr>
            <a:r>
              <a:t>•  Accountant tạo/xem giao dịch của mình; manager cấp 1; director cấp 2 + audit.</a:t>
            </a:r>
          </a:p>
          <a:p>
            <a:pPr>
              <a:spcAft>
                <a:spcPts val="1300"/>
              </a:spcAft>
              <a:defRPr sz="1800">
                <a:solidFill>
                  <a:srgbClr val="1C2F3E"/>
                </a:solidFill>
                <a:latin typeface="Aptos"/>
              </a:defRPr>
            </a:pPr>
            <a:r>
              <a:t>•  Admin chỉ có audit trong giao diện, không thấy giao dịch.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148078"/>
                </a:solidFill>
                <a:latin typeface="Aptos"/>
              </a:defRPr>
            </a:pPr>
            <a:r>
              <a:t>MẬT MÃ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0283F"/>
                </a:solidFill>
                <a:latin typeface="Aptos"/>
              </a:defRPr>
            </a:pPr>
            <a:r>
              <a:t>Khóa thiết bị: WebCrypto + IndexedDB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56032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5C7482"/>
                </a:solidFill>
                <a:latin typeface="Aptos"/>
              </a:defRPr>
            </a:pPr>
            <a:r>
              <a:t>TRUSTSIGN  •  TV3  •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00784"/>
            <a:ext cx="3145536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176B87"/>
                </a:solidFill>
                <a:latin typeface="Aptos"/>
              </a:defRPr>
            </a:pPr>
            <a:r>
              <a:t>Sinh khóa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39696"/>
            <a:ext cx="3145536" cy="12070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ECDSA P-256</a:t>
            </a:r>
            <a:br/>
            <a:r>
              <a:t>private key extractable=false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5448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700784"/>
            <a:ext cx="3145536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148078"/>
                </a:solidFill>
                <a:latin typeface="Aptos"/>
              </a:defRPr>
            </a:pPr>
            <a:r>
              <a:t>Lưu trữ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139696"/>
            <a:ext cx="3145536" cy="12070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CryptoKey trực tiếp trong IndexedDB</a:t>
            </a:r>
            <a:br/>
            <a:r>
              <a:t>Gắn username + device_id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700784"/>
            <a:ext cx="3145536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E0AE49"/>
                </a:solidFill>
                <a:latin typeface="Aptos"/>
              </a:defRPr>
            </a:pPr>
            <a:r>
              <a:t>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139696"/>
            <a:ext cx="3145536" cy="12070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Nhận SPKI public key base64</a:t>
            </a:r>
            <a:br/>
            <a:r>
              <a:t>Không nhận private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77639"/>
            <a:ext cx="10515600" cy="1828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C2F3E"/>
                </a:solidFill>
                <a:latin typeface="Aptos"/>
              </a:defRPr>
            </a:pPr>
            <a:r>
              <a:t>•  Non-extractable hạn chế đọc/export khóa, nhưng mã độc trong trang vẫn có thể gọi sign.</a:t>
            </a:r>
          </a:p>
          <a:p>
            <a:pPr>
              <a:spcAft>
                <a:spcPts val="1300"/>
              </a:spcAft>
              <a:defRPr sz="1800">
                <a:solidFill>
                  <a:srgbClr val="1C2F3E"/>
                </a:solidFill>
                <a:latin typeface="Aptos"/>
              </a:defRPr>
            </a:pPr>
            <a:r>
              <a:t>•  Không đưa khóa vào localStorage, sessionStorage, cookie, log hay URL.</a:t>
            </a:r>
          </a:p>
          <a:p>
            <a:pPr>
              <a:spcAft>
                <a:spcPts val="1300"/>
              </a:spcAft>
              <a:defRPr sz="1800">
                <a:solidFill>
                  <a:srgbClr val="1C2F3E"/>
                </a:solidFill>
                <a:latin typeface="Aptos"/>
              </a:defRPr>
            </a:pPr>
            <a:r>
              <a:t>•  Xóa dữ liệu trình duyệt đồng nghĩa mất khóa; cần đăng ký thiết bị lại.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148078"/>
                </a:solidFill>
                <a:latin typeface="Aptos"/>
              </a:defRPr>
            </a:pPr>
            <a:r>
              <a:t>MẬT MÃ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0283F"/>
                </a:solidFill>
                <a:latin typeface="Aptos"/>
              </a:defRPr>
            </a:pPr>
            <a:r>
              <a:t>Đăng ký thiết bị và proof of possession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56032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5C7482"/>
                </a:solidFill>
                <a:latin typeface="Aptos"/>
              </a:defRPr>
            </a:pPr>
            <a:r>
              <a:t>TRUSTSIGN  •  TV3  •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98480" cy="4023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C2F3E"/>
                </a:solidFill>
                <a:latin typeface="Aptos"/>
              </a:defRPr>
            </a:pPr>
            <a:r>
              <a:t>•  1. WebCrypto sinh cặp ECDSA P-256 không xuất private key.</a:t>
            </a:r>
          </a:p>
          <a:p>
            <a:pPr>
              <a:spcAft>
                <a:spcPts val="1300"/>
              </a:spcAft>
              <a:defRPr sz="1900">
                <a:solidFill>
                  <a:srgbClr val="1C2F3E"/>
                </a:solidFill>
                <a:latin typeface="Aptos"/>
              </a:defRPr>
            </a:pPr>
            <a:r>
              <a:t>•  2. Export public key dạng SPKI, mã hóa base64 chuẩn.</a:t>
            </a:r>
          </a:p>
          <a:p>
            <a:pPr>
              <a:spcAft>
                <a:spcPts val="1300"/>
              </a:spcAft>
              <a:defRPr sz="1900">
                <a:solidFill>
                  <a:srgbClr val="1C2F3E"/>
                </a:solidFill>
                <a:latin typeface="Aptos"/>
              </a:defRPr>
            </a:pPr>
            <a:r>
              <a:t>•  3. POST /devices/challenge → ký nguyên văn challenge dưới dạng UTF-8.</a:t>
            </a:r>
          </a:p>
          <a:p>
            <a:pPr>
              <a:spcAft>
                <a:spcPts val="1300"/>
              </a:spcAft>
              <a:defRPr sz="1900">
                <a:solidFill>
                  <a:srgbClr val="1C2F3E"/>
                </a:solidFill>
                <a:latin typeface="Aptos"/>
              </a:defRPr>
            </a:pPr>
            <a:r>
              <a:t>•  4. POST /devices/register gửi label, public_key, challenge, signature.</a:t>
            </a:r>
          </a:p>
          <a:p>
            <a:pPr>
              <a:spcAft>
                <a:spcPts val="1300"/>
              </a:spcAft>
              <a:defRPr sz="1900">
                <a:solidFill>
                  <a:srgbClr val="1C2F3E"/>
                </a:solidFill>
                <a:latin typeface="Aptos"/>
              </a:defRPr>
            </a:pPr>
            <a:r>
              <a:t>•  5. Chữ ký là 64 byte IEEE P1363 (r‖s), base64; không chuyển 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148078"/>
                </a:solidFill>
                <a:latin typeface="Aptos"/>
              </a:defRPr>
            </a:pPr>
            <a:r>
              <a:t>LUỒNG DUYỆT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0283F"/>
                </a:solidFill>
                <a:latin typeface="Aptos"/>
              </a:defRPr>
            </a:pPr>
            <a:r>
              <a:t>WYSIWYS: người dùng thấy gì thì ký đúng nội dung đó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56032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5C7482"/>
                </a:solidFill>
                <a:latin typeface="Aptos"/>
              </a:defRPr>
            </a:pPr>
            <a:r>
              <a:t>TRUSTSIGN  •  TV3  •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63624"/>
            <a:ext cx="3054096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176B87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3054096" cy="12070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Server cấp nonce, expires_at, level và signing_string.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4173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563624"/>
            <a:ext cx="3054096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148078"/>
                </a:solidFill>
                <a:latin typeface="Aptos"/>
              </a:defRPr>
            </a:pPr>
            <a:r>
              <a:t>Preview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002536"/>
            <a:ext cx="3054096" cy="12070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Hiển thị số tiền, người nhận, tài khoản, cấp, thiết bị, hạn nonce.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563624"/>
            <a:ext cx="3054096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E0AE49"/>
                </a:solidFill>
                <a:latin typeface="Aptos"/>
              </a:defRPr>
            </a:pPr>
            <a:r>
              <a:t>Ký &amp; gửi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002536"/>
            <a:ext cx="3054096" cy="12070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Ký nguyên văn signing_string; nonce sống 5 phút, dùng một lần.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86200"/>
            <a:ext cx="10424160" cy="1828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C2F3E"/>
                </a:solidFill>
                <a:latin typeface="Aptos"/>
              </a:defRPr>
            </a:pPr>
            <a:r>
              <a:t>•  Hiển thị chuỗi thô và SHA-256 của đúng chuỗi sẽ ký.</a:t>
            </a:r>
          </a:p>
          <a:p>
            <a:pPr>
              <a:spcAft>
                <a:spcPts val="1300"/>
              </a:spcAft>
              <a:defRPr sz="1800">
                <a:solidFill>
                  <a:srgbClr val="1C2F3E"/>
                </a:solidFill>
                <a:latin typeface="Aptos"/>
              </a:defRPr>
            </a:pPr>
            <a:r>
              <a:t>•  note nằm ngoài chuỗi ký và được ghi rõ “không được ký”.</a:t>
            </a:r>
          </a:p>
          <a:p>
            <a:pPr>
              <a:spcAft>
                <a:spcPts val="1300"/>
              </a:spcAft>
              <a:defRPr sz="1800">
                <a:solidFill>
                  <a:srgbClr val="1C2F3E"/>
                </a:solidFill>
                <a:latin typeface="Aptos"/>
              </a:defRPr>
            </a:pPr>
            <a:r>
              <a:t>•  Approve lỗi → xin challenge mới; tuyệt đối không gửi lại nonce cũ.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148078"/>
                </a:solidFill>
                <a:latin typeface="Aptos"/>
              </a:defRPr>
            </a:pPr>
            <a:r>
              <a:t>BẢO VỆ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0283F"/>
                </a:solidFill>
                <a:latin typeface="Aptos"/>
              </a:defRPr>
            </a:pPr>
            <a:r>
              <a:t>Các lớp chống giả mạo, sửa nội dung và replay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56032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5C7482"/>
                </a:solidFill>
                <a:latin typeface="Aptos"/>
              </a:defRPr>
            </a:pPr>
            <a:r>
              <a:t>TRUSTSIGN  •  TV3  •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63624"/>
            <a:ext cx="3145536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176B87"/>
                </a:solidFill>
                <a:latin typeface="Aptos"/>
              </a:defRPr>
            </a:pPr>
            <a:r>
              <a:t>Giả giọng / thiết bị lạ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3145536" cy="12070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Không có chữ ký từ public key thiết bị đã đăng ký → từ chối.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563624"/>
            <a:ext cx="3145536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148078"/>
                </a:solidFill>
                <a:latin typeface="Aptos"/>
              </a:defRPr>
            </a:pPr>
            <a:r>
              <a:t>Sửa nội dung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002536"/>
            <a:ext cx="3145536" cy="12070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Chữ ký lệch signing_string hoặc payload từ DB → từ chối.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563624"/>
            <a:ext cx="3145536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E0AE49"/>
                </a:solidFill>
                <a:latin typeface="Aptos"/>
              </a:defRPr>
            </a:pPr>
            <a:r>
              <a:t>Replay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002536"/>
            <a:ext cx="3145536" cy="12070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Nonce đã dùng → NONCE_USED; lỗi approve được ghi audit.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94760"/>
            <a:ext cx="10424160" cy="1920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C2F3E"/>
                </a:solidFill>
                <a:latin typeface="Aptos"/>
              </a:defRPr>
            </a:pPr>
            <a:r>
              <a:t>•  Phân tách nhiệm vụ: người tạo không tự duyệt; hai cấp cần người duyệt độc lập.</a:t>
            </a:r>
          </a:p>
          <a:p>
            <a:pPr>
              <a:spcAft>
                <a:spcPts val="1300"/>
              </a:spcAft>
              <a:defRPr sz="1800">
                <a:solidFill>
                  <a:srgbClr val="1C2F3E"/>
                </a:solidFill>
                <a:latin typeface="Aptos"/>
              </a:defRPr>
            </a:pPr>
            <a:r>
              <a:t>•  Thiết bị bị thu hồi sẽ không thể ký yêu cầu mới.</a:t>
            </a:r>
          </a:p>
          <a:p>
            <a:pPr>
              <a:spcAft>
                <a:spcPts val="1300"/>
              </a:spcAft>
              <a:defRPr sz="1800">
                <a:solidFill>
                  <a:srgbClr val="1C2F3E"/>
                </a:solidFill>
                <a:latin typeface="Aptos"/>
              </a:defRPr>
            </a:pPr>
            <a:r>
              <a:t>•  Mã lỗi được trình bày bằng code gốc, thông báo, HTTP status và giao dịch liên quan.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148078"/>
                </a:solidFill>
                <a:latin typeface="Aptos"/>
              </a:defRPr>
            </a:pPr>
            <a:r>
              <a:t>BẰNG CHỨNG GIAO DIỆN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0283F"/>
                </a:solidFill>
                <a:latin typeface="Aptos"/>
              </a:defRPr>
            </a:pPr>
            <a:r>
              <a:t>Demo: preview trước khi ký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56032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5C7482"/>
                </a:solidFill>
                <a:latin typeface="Aptos"/>
              </a:defRPr>
            </a:pPr>
            <a:r>
              <a:t>TRUSTSIGN  •  TV3  •  09</a:t>
            </a:r>
          </a:p>
        </p:txBody>
      </p:sp>
      <p:pic>
        <p:nvPicPr>
          <p:cNvPr id="6" name="Picture 5" descr="wysiwys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20774"/>
            <a:ext cx="4663440" cy="339369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49240" y="1508760"/>
            <a:ext cx="6035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13831" y="1655063"/>
            <a:ext cx="5705855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148078"/>
                </a:solidFill>
                <a:latin typeface="Aptos"/>
              </a:defRPr>
            </a:pPr>
            <a:r>
              <a:t>Nội dung ký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3831" y="2093976"/>
            <a:ext cx="5705855" cy="4297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Số tiền, người nhận, tài khoản và cấp duyệt cùng lấy từ signing_string.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2880360"/>
            <a:ext cx="6035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13831" y="3026664"/>
            <a:ext cx="5705855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176B87"/>
                </a:solidFill>
                <a:latin typeface="Aptos"/>
              </a:defRPr>
            </a:pPr>
            <a:r>
              <a:t>Xác nhận chủ động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13831" y="3465576"/>
            <a:ext cx="5705855" cy="4297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Người duyệt phải xác nhận đã đọc; nonce countdown luôn hiển thị.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4251960"/>
            <a:ext cx="6035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13831" y="4398264"/>
            <a:ext cx="5705855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E0AE49"/>
                </a:solidFill>
                <a:latin typeface="Aptos"/>
              </a:defRPr>
            </a:pPr>
            <a:r>
              <a:t>Demo TC-06b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13831" y="4837176"/>
            <a:ext cx="5705855" cy="4297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Thay đổi 1 VND trước khi ký → backend trả SIGNATURE_INVALID.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148078"/>
                </a:solidFill>
                <a:latin typeface="Aptos"/>
              </a:defRPr>
            </a:pPr>
            <a:r>
              <a:t>KIỂM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0283F"/>
                </a:solidFill>
                <a:latin typeface="Aptos"/>
              </a:defRPr>
            </a:pPr>
            <a:r>
              <a:t>Audit log: bằng chứng bất biến có thể kiểm 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56032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5C7482"/>
                </a:solidFill>
                <a:latin typeface="Aptos"/>
              </a:defRPr>
            </a:pPr>
            <a:r>
              <a:t>TRUSTSIGN  •  TV3  •  10</a:t>
            </a:r>
          </a:p>
        </p:txBody>
      </p:sp>
      <p:pic>
        <p:nvPicPr>
          <p:cNvPr id="6" name="Picture 5" descr="audit-ver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421" y="1325880"/>
            <a:ext cx="2743557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49240" y="1508760"/>
            <a:ext cx="6035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13831" y="1655063"/>
            <a:ext cx="5705855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148078"/>
                </a:solidFill>
                <a:latin typeface="Aptos"/>
              </a:defRPr>
            </a:pPr>
            <a:r>
              <a:t>Hash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3831" y="2093976"/>
            <a:ext cx="5705855" cy="5212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Mỗi dòng gắn prev_hash; verify báo valid, checked, broken_at, reason.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2971800"/>
            <a:ext cx="6035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13831" y="3118104"/>
            <a:ext cx="5705855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176B87"/>
                </a:solidFill>
                <a:latin typeface="Aptos"/>
              </a:defRPr>
            </a:pPr>
            <a:r>
              <a:t>Phát hiện sửa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13831" y="3557016"/>
            <a:ext cx="5705855" cy="5212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TC-18 sửa một dòng bằng script demo; verify phát hiện HASH_MISMATCH.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4434840"/>
            <a:ext cx="6035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13831" y="4581144"/>
            <a:ext cx="5705855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E0AE49"/>
                </a:solidFill>
                <a:latin typeface="Aptos"/>
              </a:defRPr>
            </a:pPr>
            <a:r>
              <a:t>Giới hạn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13831" y="5020055"/>
            <a:ext cx="5705855" cy="5212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Cắt bỏ phần cuối log cần hash neo ra ngoài để phát hiện.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148078"/>
                </a:solidFill>
                <a:latin typeface="Aptos"/>
              </a:defRPr>
            </a:pPr>
            <a:r>
              <a:t>KẾT QUẢ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0283F"/>
                </a:solidFill>
                <a:latin typeface="Aptos"/>
              </a:defRPr>
            </a:pPr>
            <a:r>
              <a:t>Demo tấn công: lý do từ chối rõ ràng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56032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5C7482"/>
                </a:solidFill>
                <a:latin typeface="Aptos"/>
              </a:defRPr>
            </a:pPr>
            <a:r>
              <a:t>TRUSTSIGN  •  TV3  •  11</a:t>
            </a:r>
          </a:p>
        </p:txBody>
      </p:sp>
      <p:pic>
        <p:nvPicPr>
          <p:cNvPr id="6" name="Picture 5" descr="demo-re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858" y="1325880"/>
            <a:ext cx="2408682" cy="4983480"/>
          </a:xfrm>
          <a:prstGeom prst="rect">
            <a:avLst/>
          </a:prstGeom>
        </p:spPr>
      </p:pic>
      <p:pic>
        <p:nvPicPr>
          <p:cNvPr id="7" name="Picture 6" descr="audit-tamp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878" y="1325880"/>
            <a:ext cx="335842" cy="4983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829800" y="2011680"/>
            <a:ext cx="1920240" cy="685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600" b="1">
                <a:solidFill>
                  <a:srgbClr val="10283F"/>
                </a:solidFill>
                <a:latin typeface="Aptos"/>
              </a:defRPr>
            </a:pPr>
            <a:r>
              <a:t>SIGNATURE_INVALID · HTTP 403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3154680"/>
            <a:ext cx="1920240" cy="9144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148078"/>
                </a:solidFill>
                <a:latin typeface="Aptos"/>
              </a:defRPr>
            </a:pPr>
            <a:r>
              <a:t>HASH_MISMATCH</a:t>
            </a:r>
            <a:br/>
            <a:r>
              <a:t>Dòng audit được đánh dấu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148078"/>
                </a:solidFill>
                <a:latin typeface="Aptos"/>
              </a:defRPr>
            </a:pPr>
            <a:r>
              <a:t>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0283F"/>
                </a:solidFill>
                <a:latin typeface="Aptos"/>
              </a:defRPr>
            </a:pPr>
            <a:r>
              <a:t>Giới hạn và 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56032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5C7482"/>
                </a:solidFill>
                <a:latin typeface="Aptos"/>
              </a:defRPr>
            </a:pPr>
            <a:r>
              <a:t>TRUSTSIGN  •  TV3  •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63624"/>
            <a:ext cx="4928616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176B87"/>
                </a:solidFill>
                <a:latin typeface="Aptos"/>
              </a:defRPr>
            </a:pPr>
            <a:r>
              <a:t>Giới hạn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4928616" cy="1252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XSS/mã độc trong trang vẫn có thể gọi sign.</a:t>
            </a:r>
            <a:br/>
            <a:r>
              <a:t>Người dùng có thể ký mà không hiểu nội dung.</a:t>
            </a:r>
            <a:br/>
            <a:r>
              <a:t>Demo mode không dành cho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63624"/>
            <a:ext cx="4928616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700" b="1">
                <a:solidFill>
                  <a:srgbClr val="148078"/>
                </a:solidFill>
                <a:latin typeface="Aptos"/>
              </a:defRPr>
            </a:pPr>
            <a:r>
              <a:t>Điểm đạt được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002536"/>
            <a:ext cx="4928616" cy="1252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400" b="0">
                <a:solidFill>
                  <a:srgbClr val="1C2F3E"/>
                </a:solidFill>
                <a:latin typeface="Aptos"/>
              </a:defRPr>
            </a:pPr>
            <a:r>
              <a:t>MFA + khóa thiết bị + ký đúng byte.</a:t>
            </a:r>
            <a:br/>
            <a:r>
              <a:t>Nonce một lần + phân quyền server-side.</a:t>
            </a:r>
            <a:br/>
            <a:r>
              <a:t>Audit hash chain có màn hình verify.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10469880" cy="685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2400" b="1">
                <a:solidFill>
                  <a:srgbClr val="10283F"/>
                </a:solidFill>
                <a:latin typeface="Aptos"/>
              </a:defRPr>
            </a:pPr>
            <a:r>
              <a:t>TrustSign không tin lời nói — hệ thống tin vào bằng chứng có thể kiểm chứng.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66360"/>
            <a:ext cx="1046988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2000" b="1">
                <a:solidFill>
                  <a:srgbClr val="148078"/>
                </a:solidFill>
                <a:latin typeface="Aptos"/>
              </a:defRPr>
            </a:pPr>
            <a:r>
              <a:t>Cảm 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